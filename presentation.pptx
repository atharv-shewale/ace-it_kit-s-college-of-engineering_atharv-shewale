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embeddedFontLst>
    <p:embeddedFont>
      <p:font typeface="JetBrains Mono" pitchFamily="34" charset="0"/>
      <p:regular r:id="rId19"/>
    </p:embeddedFont>
    <p:embeddedFont>
      <p:font typeface="JetBrains Mono Bold" pitchFamily="34" charset="0"/>
      <p:regular r:id="rId20"/>
    </p:embeddedFont>
    <p:embeddedFont>
      <p:font typeface="JetBrains Mono Italic" pitchFamily="34" charset="0"/>
      <p:regular r:id="rId21"/>
    </p:embeddedFont>
    <p:embeddedFont>
      <p:font typeface="Plus Jakarta Sans" pitchFamily="34" charset="0"/>
      <p:regular r:id="rId22"/>
    </p:embeddedFont>
    <p:embeddedFont>
      <p:font typeface="Plus Jakarta Sans Bold" pitchFamily="34" charset="0"/>
      <p:regular r:id="rId23"/>
    </p:embeddedFont>
    <p:embeddedFont>
      <p:font typeface="Plus Jakarta Sans Italic" pitchFamily="3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39827" y="1194234"/>
            <a:ext cx="2264346" cy="215652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439827" y="1194234"/>
            <a:ext cx="2264346" cy="215652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🚀 KOLKATA IEM HACKATHON PROJECT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396183" y="1467036"/>
            <a:ext cx="2351633" cy="650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900" b="1" spc="226" kern="0" dirty="0">
                <a:gradFill>
                  <a:gsLst>
                    <a:gs pos="0">
                      <a:srgbClr val="FFFFFF"/>
                    </a:gs>
                    <a:gs pos="30000">
                      <a:srgbClr val="FFFFFF"/>
                    </a:gs>
                    <a:gs pos="70000">
                      <a:srgbClr val="818CF8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Plus Jakarta Sans" pitchFamily="34" charset="0"/>
              </a:rPr>
              <a:t>CEREBRO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2995240" y="2231417"/>
            <a:ext cx="31535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Plus Jakarta Sans" pitchFamily="34" charset="0"/>
              </a:rPr>
              <a:t>Decision Reversal Pattern Detector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00250" y="2581461"/>
            <a:ext cx="51435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lus Jakarta Sans" pitchFamily="34" charset="0"/>
              </a:rPr>
              <a:t>Unveiling Micro-Frictions, Hesitation Intervals, and Choice Oscillations Across Checkout Funnels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19795" y="3287799"/>
            <a:ext cx="1907828" cy="661467"/>
          </a:xfrm>
          <a:prstGeom prst="roundRect">
            <a:avLst>
              <a:gd name="adj" fmla="val 21600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9" name="Shape 6"/>
          <p:cNvSpPr/>
          <p:nvPr/>
        </p:nvSpPr>
        <p:spPr>
          <a:xfrm>
            <a:off x="1219795" y="3294943"/>
            <a:ext cx="1893429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1426964" y="3409243"/>
            <a:ext cx="5760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spc="113" kern="0" dirty="0">
                <a:solidFill>
                  <a:srgbClr val="34D399"/>
                </a:solidFill>
                <a:latin typeface="JetBrains Mono" pitchFamily="34" charset="0"/>
              </a:rPr>
              <a:t>100%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426964" y="3706378"/>
            <a:ext cx="149349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spc="82" kern="0" dirty="0">
                <a:solidFill>
                  <a:srgbClr val="94A3B8"/>
                </a:solidFill>
                <a:latin typeface="Plus Jakarta Sans" pitchFamily="34" charset="0"/>
              </a:rPr>
              <a:t>CLASSIFICATION ACCURACY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299073" y="3287799"/>
            <a:ext cx="2511921" cy="661467"/>
          </a:xfrm>
          <a:prstGeom prst="roundRect">
            <a:avLst>
              <a:gd name="adj" fmla="val 21600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3" name="Shape 10"/>
          <p:cNvSpPr/>
          <p:nvPr/>
        </p:nvSpPr>
        <p:spPr>
          <a:xfrm>
            <a:off x="3299073" y="3294943"/>
            <a:ext cx="249763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4" name="Text 11"/>
          <p:cNvSpPr/>
          <p:nvPr/>
        </p:nvSpPr>
        <p:spPr>
          <a:xfrm>
            <a:off x="3506242" y="3409243"/>
            <a:ext cx="10081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spc="113" kern="0" dirty="0">
                <a:solidFill>
                  <a:srgbClr val="818CF8"/>
                </a:solidFill>
                <a:latin typeface="JetBrains Mono" pitchFamily="34" charset="0"/>
              </a:rPr>
              <a:t>56 / 56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06242" y="3706378"/>
            <a:ext cx="20975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spc="82" kern="0" dirty="0">
                <a:solidFill>
                  <a:srgbClr val="94A3B8"/>
                </a:solidFill>
                <a:latin typeface="Plus Jakarta Sans" pitchFamily="34" charset="0"/>
              </a:rPr>
              <a:t>TESTS PASSED (UNIT &amp; CROSS-DOMAIN)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982444" y="3287799"/>
            <a:ext cx="1941649" cy="661467"/>
          </a:xfrm>
          <a:prstGeom prst="roundRect">
            <a:avLst>
              <a:gd name="adj" fmla="val 21600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7" name="Shape 14"/>
          <p:cNvSpPr/>
          <p:nvPr/>
        </p:nvSpPr>
        <p:spPr>
          <a:xfrm>
            <a:off x="5982444" y="3294943"/>
            <a:ext cx="1927361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6189613" y="3409243"/>
            <a:ext cx="11521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spc="113" kern="0" dirty="0">
                <a:solidFill>
                  <a:srgbClr val="38BDF8"/>
                </a:solidFill>
                <a:latin typeface="JetBrains Mono" pitchFamily="34" charset="0"/>
              </a:rPr>
              <a:t>Zero-LLM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189613" y="3706378"/>
            <a:ext cx="15273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spc="82" kern="0" dirty="0">
                <a:solidFill>
                  <a:srgbClr val="94A3B8"/>
                </a:solidFill>
                <a:latin typeface="Plus Jakarta Sans" pitchFamily="34" charset="0"/>
              </a:rPr>
              <a:t>DETERMINISTIC AUDITABILITY</a:t>
            </a:r>
            <a:endParaRPr lang="en-US" sz="700" dirty="0"/>
          </a:p>
        </p:txBody>
      </p:sp>
    </p:spTree>
  </p:cSld>
  <p:clrMapOvr>
    <a:masterClrMapping/>
  </p:clrMapOvr>
  <p:transition spd="med">
    <p:checker dir="horz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033946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033946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THE BLINDSPOT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516671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Why Conversion Rates Lie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51667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Standard funnel telemetry measures drop-offs, but misses internal decision turbulence.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735150"/>
            <a:ext cx="2552663" cy="1566267"/>
          </a:xfrm>
          <a:prstGeom prst="roundRect">
            <a:avLst>
              <a:gd name="adj" fmla="val 9122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742294"/>
            <a:ext cx="253826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942319"/>
            <a:ext cx="2138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⚠️ The Linear Trap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220925"/>
            <a:ext cx="2138325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Analytics assume users move cleanly: </a:t>
            </a: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Browse → Select → Pay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. In reality, modern users hesitate, jump backwards, and flip choices repeatedly.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95613" y="1735150"/>
            <a:ext cx="2552663" cy="1566267"/>
          </a:xfrm>
          <a:prstGeom prst="roundRect">
            <a:avLst>
              <a:gd name="adj" fmla="val 9122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4" name="Shape 11"/>
          <p:cNvSpPr/>
          <p:nvPr/>
        </p:nvSpPr>
        <p:spPr>
          <a:xfrm>
            <a:off x="3295613" y="1742294"/>
            <a:ext cx="253826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Text 12"/>
          <p:cNvSpPr/>
          <p:nvPr/>
        </p:nvSpPr>
        <p:spPr>
          <a:xfrm>
            <a:off x="3502782" y="1942319"/>
            <a:ext cx="2138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🔄 Hidden Churn &amp; Oscillations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02782" y="2399519"/>
            <a:ext cx="2138325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A user who eventually converts after oscillating between </a:t>
            </a:r>
            <a:r>
              <a:rPr lang="en-US" sz="800" i="1" dirty="0">
                <a:solidFill>
                  <a:srgbClr val="94A3B8"/>
                </a:solidFill>
                <a:latin typeface="Plus Jakarta Sans" pitchFamily="34" charset="0"/>
              </a:rPr>
              <a:t>Monthly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and </a:t>
            </a:r>
            <a:r>
              <a:rPr lang="en-US" sz="800" i="1" dirty="0">
                <a:solidFill>
                  <a:srgbClr val="94A3B8"/>
                </a:solidFill>
                <a:latin typeface="Plus Jakarta Sans" pitchFamily="34" charset="0"/>
              </a:rPr>
              <a:t>Annual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4 times has a fragile experience with very high post-purchase regret.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19726" y="1735150"/>
            <a:ext cx="2552774" cy="1566267"/>
          </a:xfrm>
          <a:prstGeom prst="roundRect">
            <a:avLst>
              <a:gd name="adj" fmla="val 9122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8" name="Shape 15"/>
          <p:cNvSpPr/>
          <p:nvPr/>
        </p:nvSpPr>
        <p:spPr>
          <a:xfrm>
            <a:off x="6019726" y="1742294"/>
            <a:ext cx="2538487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Text 16"/>
          <p:cNvSpPr/>
          <p:nvPr/>
        </p:nvSpPr>
        <p:spPr>
          <a:xfrm>
            <a:off x="6226894" y="1942319"/>
            <a:ext cx="21384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📉 Lost Cart Recovery Failure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26894" y="2220925"/>
            <a:ext cx="2138437" cy="86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Generic discount emails fail because teams don't know </a:t>
            </a:r>
            <a:r>
              <a:rPr lang="en-US" sz="800" i="1" dirty="0">
                <a:solidFill>
                  <a:srgbClr val="94A3B8"/>
                </a:solidFill>
                <a:latin typeface="Plus Jakarta Sans" pitchFamily="34" charset="0"/>
              </a:rPr>
              <a:t>why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the user abandoned: was it a momentary hesitation, or panic at the final payment confirmation?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71500" y="3501442"/>
            <a:ext cx="8001000" cy="1076920"/>
          </a:xfrm>
          <a:prstGeom prst="roundRect">
            <a:avLst>
              <a:gd name="adj" fmla="val 13267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2" name="Shape 19"/>
          <p:cNvSpPr/>
          <p:nvPr/>
        </p:nvSpPr>
        <p:spPr>
          <a:xfrm>
            <a:off x="571500" y="3508586"/>
            <a:ext cx="7986713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778669" y="3708611"/>
            <a:ext cx="75866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Plus Jakarta Sans" pitchFamily="34" charset="0"/>
              </a:rPr>
              <a:t>💡 The CEREBRO Paradigm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8669" y="3987217"/>
            <a:ext cx="7586663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Plus Jakarta Sans" pitchFamily="34" charset="0"/>
              </a:rPr>
              <a:t>Treat checkout decisions as </a:t>
            </a:r>
            <a:r>
              <a:rPr lang="en-US" sz="900" b="1" dirty="0">
                <a:solidFill>
                  <a:srgbClr val="E2E8F0"/>
                </a:solidFill>
                <a:latin typeface="Plus Jakarta Sans" pitchFamily="34" charset="0"/>
              </a:rPr>
              <a:t>stateful dynamic trajectories</a:t>
            </a:r>
            <a:r>
              <a:rPr lang="en-US" sz="900" dirty="0">
                <a:solidFill>
                  <a:srgbClr val="E2E8F0"/>
                </a:solidFill>
                <a:latin typeface="Plus Jakarta Sans" pitchFamily="34" charset="0"/>
              </a:rPr>
              <a:t>. By capturing every change, flip-back, and hesitation delta ($\Delta t$), we can classify human psychological personas and intervene in real-time.</a:t>
            </a:r>
            <a:endParaRPr lang="en-US" sz="900" dirty="0"/>
          </a:p>
        </p:txBody>
      </p:sp>
    </p:spTree>
  </p:cSld>
  <p:clrMapOvr>
    <a:masterClrMapping/>
  </p:clrMapOvr>
  <p:transition spd="med">
    <p:diamond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453307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453307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FORMAL FOUNDATIONS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501692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Domain Definitions &amp; Reversal Algebra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50169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Exact rules that turn raw event logs into high-fidelity behavioral signals.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570062"/>
            <a:ext cx="3900488" cy="2054721"/>
          </a:xfrm>
          <a:prstGeom prst="roundRect">
            <a:avLst>
              <a:gd name="adj" fmla="val 6953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577206"/>
            <a:ext cx="3886200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777231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📍 Reversal Event &amp; Hesitation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055837"/>
            <a:ext cx="348615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For user $u$ on decision $d$, if choice $c_t \neq c_{t-1}$: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8669" y="2315245"/>
            <a:ext cx="3486150" cy="921544"/>
          </a:xfrm>
          <a:prstGeom prst="roundRect">
            <a:avLst>
              <a:gd name="adj" fmla="val 9302"/>
            </a:avLst>
          </a:prstGeom>
          <a:solidFill>
            <a:srgbClr val="070A13">
              <a:alpha val="9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8669" y="2315245"/>
            <a:ext cx="3486150" cy="921544"/>
          </a:xfrm>
          <a:prstGeom prst="rect">
            <a:avLst/>
          </a:prstGeom>
          <a:noFill/>
          <a:ln/>
        </p:spPr>
        <p:txBody>
          <a:bodyPr wrap="square" lIns="154686" tIns="154686" rIns="154686" bIns="15468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Reversal row emitted: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{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"user_id"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u,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"decision_id"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d,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"from_choice"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c_{t-1},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"to_choice"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c_t,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"stage"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current_stage,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"seconds_since_prev"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t_current - t_{previous} }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2013" y="1570062"/>
            <a:ext cx="3900488" cy="2054721"/>
          </a:xfrm>
          <a:prstGeom prst="roundRect">
            <a:avLst>
              <a:gd name="adj" fmla="val 6953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6" name="Shape 13"/>
          <p:cNvSpPr/>
          <p:nvPr/>
        </p:nvSpPr>
        <p:spPr>
          <a:xfrm>
            <a:off x="4672013" y="1577206"/>
            <a:ext cx="3886200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7" name="Text 14"/>
          <p:cNvSpPr/>
          <p:nvPr/>
        </p:nvSpPr>
        <p:spPr>
          <a:xfrm>
            <a:off x="4879181" y="1777231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🔁 Flip-Back State Machine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79181" y="2055837"/>
            <a:ext cx="3486150" cy="354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A reversal is flagged as is_flip_back = True if the new choice $c_t$ was previously chosen by the user in this decision history: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879181" y="2496071"/>
            <a:ext cx="3486150" cy="921544"/>
          </a:xfrm>
          <a:prstGeom prst="roundRect">
            <a:avLst>
              <a:gd name="adj" fmla="val 9302"/>
            </a:avLst>
          </a:prstGeom>
          <a:solidFill>
            <a:srgbClr val="070A13">
              <a:alpha val="9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9181" y="2496071"/>
            <a:ext cx="3486150" cy="921544"/>
          </a:xfrm>
          <a:prstGeom prst="rect">
            <a:avLst/>
          </a:prstGeom>
          <a:noFill/>
          <a:ln/>
        </p:spPr>
        <p:txBody>
          <a:bodyPr wrap="square" lIns="154686" tIns="154686" rIns="154686" bIns="15468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Historical set check: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is_flip_back = (c_t </a:t>
            </a:r>
            <a:r>
              <a:rPr lang="en-US" sz="700" b="1" dirty="0">
                <a:solidFill>
                  <a:srgbClr val="F472B6"/>
                </a:solidFill>
                <a:latin typeface="JetBrains Mono" pitchFamily="34" charset="0"/>
              </a:rPr>
              <a:t>in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history[u][d])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Example: A ──▶ B ──▶ A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Step 1: initial A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Step 2: A ──▶ B (standard reversal)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Step 3: B ──▶ A (flip-back detected!)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71500" y="3767658"/>
            <a:ext cx="8001000" cy="1040309"/>
          </a:xfrm>
          <a:prstGeom prst="roundRect">
            <a:avLst>
              <a:gd name="adj" fmla="val 13734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2" name="Shape 19"/>
          <p:cNvSpPr/>
          <p:nvPr/>
        </p:nvSpPr>
        <p:spPr>
          <a:xfrm>
            <a:off x="571500" y="3774802"/>
            <a:ext cx="7986713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778669" y="3974827"/>
            <a:ext cx="75866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⏱️ Funnel Stages &amp; Quick-Correction Boundary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8669" y="4253433"/>
            <a:ext cx="7586663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Funnel progression: </a:t>
            </a: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Browsing $\to$ Selection $\to$ Review $\to$ Confirmation $\to$ Post-commit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. If a change occurs with $\Delta t \le 60\text{s}$ with no flip-back, it's identified as an accidental typo or quick correction, distinguishing intent from hesitation.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0" dir="l"/>
      </p:transition>
    </mc:Choice>
    <mc:Fallback>
      <p:transition spd="med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819857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819857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TAXONOMY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465314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5 Distinct Behavioral Personas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46531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Capturing user psychology from decisive clarity to turbulent second-guessing.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674093"/>
            <a:ext cx="2571750" cy="1411225"/>
          </a:xfrm>
          <a:prstGeom prst="roundRect">
            <a:avLst>
              <a:gd name="adj" fmla="val 10124"/>
            </a:avLst>
          </a:prstGeom>
          <a:gradFill>
            <a:gsLst>
              <a:gs pos="0">
                <a:srgbClr val="10B981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10B98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681237"/>
            <a:ext cx="2557463" cy="21431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778669" y="1899121"/>
            <a:ext cx="614921" cy="178594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8669" y="1899121"/>
            <a:ext cx="614921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Plus Jakarta Sans" pitchFamily="34" charset="0"/>
              </a:rPr>
              <a:t>DECISIVE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716299" y="1881262"/>
            <a:ext cx="219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lus Jakarta Sans" pitchFamily="34" charset="0"/>
              </a:rPr>
              <a:t>🎯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8669" y="2152724"/>
            <a:ext cx="21574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Zero Reversals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8669" y="2395612"/>
            <a:ext cx="2157413" cy="321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Picks choices smoothly through the funnel with zero second-guessing. Ideal path.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86125" y="1674093"/>
            <a:ext cx="2571750" cy="1411225"/>
          </a:xfrm>
          <a:prstGeom prst="roundRect">
            <a:avLst>
              <a:gd name="adj" fmla="val 10124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7" name="Shape 14"/>
          <p:cNvSpPr/>
          <p:nvPr/>
        </p:nvSpPr>
        <p:spPr>
          <a:xfrm>
            <a:off x="3286125" y="1681237"/>
            <a:ext cx="2557463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8" name="Shape 15"/>
          <p:cNvSpPr/>
          <p:nvPr/>
        </p:nvSpPr>
        <p:spPr>
          <a:xfrm>
            <a:off x="3493294" y="1899121"/>
            <a:ext cx="1127485" cy="178594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3294" y="1899121"/>
            <a:ext cx="1127485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0A5FA"/>
                </a:solidFill>
                <a:latin typeface="Plus Jakarta Sans" pitchFamily="34" charset="0"/>
              </a:rPr>
              <a:t>SINGLE CORRECTOR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430924" y="1881262"/>
            <a:ext cx="219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lus Jakarta Sans" pitchFamily="34" charset="0"/>
              </a:rPr>
              <a:t>🔧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93294" y="2152724"/>
            <a:ext cx="21574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Quick 1-Off Adjustment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93294" y="2395612"/>
            <a:ext cx="2157413" cy="48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Exactly 1 reversal overall, within $\le 60\text{s}$, no flip-back. Accidental click resolved immediately.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00750" y="1674093"/>
            <a:ext cx="2571750" cy="1411225"/>
          </a:xfrm>
          <a:prstGeom prst="roundRect">
            <a:avLst>
              <a:gd name="adj" fmla="val 10124"/>
            </a:avLst>
          </a:prstGeom>
          <a:gradFill>
            <a:gsLst>
              <a:gs pos="0">
                <a:srgbClr val="EC4899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EC4899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4" name="Shape 21"/>
          <p:cNvSpPr/>
          <p:nvPr/>
        </p:nvSpPr>
        <p:spPr>
          <a:xfrm>
            <a:off x="6000750" y="1681237"/>
            <a:ext cx="2557463" cy="21431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6207919" y="1899121"/>
            <a:ext cx="854013" cy="178594"/>
          </a:xfrm>
          <a:prstGeom prst="roundRect">
            <a:avLst>
              <a:gd name="adj" fmla="val 50000"/>
            </a:avLst>
          </a:prstGeom>
          <a:solidFill>
            <a:srgbClr val="EC4899">
              <a:alpha val="20000"/>
            </a:srgbClr>
          </a:solidFill>
          <a:ln w="635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07919" y="1899121"/>
            <a:ext cx="854013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472B6"/>
                </a:solidFill>
                <a:latin typeface="Plus Jakarta Sans" pitchFamily="34" charset="0"/>
              </a:rPr>
              <a:t>FLIP-FLOPPER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8145549" y="1881262"/>
            <a:ext cx="219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lus Jakarta Sans" pitchFamily="34" charset="0"/>
              </a:rPr>
              <a:t>🔁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07919" y="2152724"/>
            <a:ext cx="21574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Concentrated Oscillation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07919" y="2395612"/>
            <a:ext cx="2157413" cy="48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$\ge 3$ reversals on one focal choice OR $\ge 2$ flip-backs, with $\ge 60\%$ share concentrated on that decision.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71500" y="3228194"/>
            <a:ext cx="2571750" cy="1411225"/>
          </a:xfrm>
          <a:prstGeom prst="roundRect">
            <a:avLst>
              <a:gd name="adj" fmla="val 10124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31" name="Shape 28"/>
          <p:cNvSpPr/>
          <p:nvPr/>
        </p:nvSpPr>
        <p:spPr>
          <a:xfrm>
            <a:off x="571500" y="3235337"/>
            <a:ext cx="2557463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29"/>
          <p:cNvSpPr/>
          <p:nvPr/>
        </p:nvSpPr>
        <p:spPr>
          <a:xfrm>
            <a:off x="778669" y="3453222"/>
            <a:ext cx="895759" cy="178594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8669" y="3453222"/>
            <a:ext cx="895759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BBF24"/>
                </a:solidFill>
                <a:latin typeface="Plus Jakarta Sans" pitchFamily="34" charset="0"/>
              </a:rPr>
              <a:t>LATE REVERSER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716299" y="3435362"/>
            <a:ext cx="219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lus Jakarta Sans" pitchFamily="34" charset="0"/>
              </a:rPr>
              <a:t>⚠️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78669" y="3706825"/>
            <a:ext cx="21574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Cold-Feet at the Finish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78669" y="3949712"/>
            <a:ext cx="2157413" cy="48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$\ge 60\%$ of reversals occur late at Confirmation or Post-commit. High risk of cart abandonment!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286125" y="3228194"/>
            <a:ext cx="2571750" cy="1411225"/>
          </a:xfrm>
          <a:prstGeom prst="roundRect">
            <a:avLst>
              <a:gd name="adj" fmla="val 10124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38" name="Shape 35"/>
          <p:cNvSpPr/>
          <p:nvPr/>
        </p:nvSpPr>
        <p:spPr>
          <a:xfrm>
            <a:off x="3286125" y="3235337"/>
            <a:ext cx="2557463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6"/>
          <p:cNvSpPr/>
          <p:nvPr/>
        </p:nvSpPr>
        <p:spPr>
          <a:xfrm>
            <a:off x="3493294" y="3453222"/>
            <a:ext cx="1175370" cy="178594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63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93294" y="3453222"/>
            <a:ext cx="1175370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084FC"/>
                </a:solidFill>
                <a:latin typeface="Plus Jakarta Sans" pitchFamily="34" charset="0"/>
              </a:rPr>
              <a:t>CHRONIC INDECISIVE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5430924" y="3435362"/>
            <a:ext cx="219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lus Jakarta Sans" pitchFamily="34" charset="0"/>
              </a:rPr>
              <a:t>🌀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493294" y="3706825"/>
            <a:ext cx="21574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Broad Churn Across Decisions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493294" y="3949712"/>
            <a:ext cx="2157413" cy="48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
                Changes spread across $\ge 2$ distinct decisions with high churn rate (
                <a:pPr indent="0" marL="0">
                  <a:lnSpc>
                    <a:spcPct val="160000"/>
                  </a:lnSpc>
                  <a:buNone/>
                </a:pPr>
                <a:r>
                  <a:rPr lang="en-US" sz="800" dirty="0">
                    <a:solidFill>
                      <a:srgbClr val="94A3B8"/>
                    </a:solidFill>
                    <a:latin typeface="Plus Jakarta Sans" pitchFamily="34" charset="0"/>
                  </a:rPr>
                  <a:t>Changes spread across $\ge 2$ distinct decisions with high churn rate ($&gt; 0.75$) and dispersed across stages.</a:t>
                </a:r>
                <a:endParaRPr lang="en-US" sz="800" dirty="0"/>
                gt; 0.75$) and dispersed across stages.
              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000750" y="3228194"/>
            <a:ext cx="2571750" cy="1411225"/>
          </a:xfrm>
          <a:prstGeom prst="roundRect">
            <a:avLst>
              <a:gd name="adj" fmla="val 10124"/>
            </a:avLst>
          </a:prstGeom>
          <a:solidFill>
            <a:srgbClr val="1E293B">
              <a:alpha val="4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45" name="Shape 42"/>
          <p:cNvSpPr/>
          <p:nvPr/>
        </p:nvSpPr>
        <p:spPr>
          <a:xfrm>
            <a:off x="6000750" y="3235337"/>
            <a:ext cx="2557463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6" name="Shape 43"/>
          <p:cNvSpPr/>
          <p:nvPr/>
        </p:nvSpPr>
        <p:spPr>
          <a:xfrm>
            <a:off x="6207919" y="3460366"/>
            <a:ext cx="464567" cy="164306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6207919" y="3460366"/>
            <a:ext cx="464567" cy="164306"/>
          </a:xfrm>
          <a:prstGeom prst="rect">
            <a:avLst/>
          </a:prstGeom>
          <a:noFill/>
          <a:ln/>
        </p:spPr>
        <p:txBody>
          <a:bodyPr wrap="none" lIns="88392" tIns="29464" rIns="88392" bIns="29464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BD5E1"/>
                </a:solidFill>
                <a:latin typeface="Plus Jakarta Sans" pitchFamily="34" charset="0"/>
              </a:rPr>
              <a:t>MIXED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8145549" y="3435362"/>
            <a:ext cx="219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lus Jakarta Sans" pitchFamily="34" charset="0"/>
              </a:rPr>
              <a:t>⚖️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207919" y="3706825"/>
            <a:ext cx="21574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Catch-All Persona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207919" y="3949712"/>
            <a:ext cx="2157413" cy="321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Multi-faceted or boundary behaviors that do not cleanly trigger priority rules.</a:t>
            </a:r>
            <a:endParaRPr lang="en-US" sz="800" dirty="0"/>
          </a:p>
        </p:txBody>
      </p:sp>
    </p:spTree>
  </p:cSld>
  <p:clrMapOvr>
    <a:masterClrMapping/>
  </p:clrMapOvr>
  <p:transition spd="med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374614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374614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SYSTEM ENGINEERING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472525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Modular 6-Stage Analytical Pipeline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47252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Clean architectural separation from raw event stream to interactive visualization.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923566"/>
            <a:ext cx="1334988" cy="900113"/>
          </a:xfrm>
          <a:prstGeom prst="roundRect">
            <a:avLst>
              <a:gd name="adj" fmla="val 12698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7978" y="2045010"/>
            <a:ext cx="542032" cy="178594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978" y="2045010"/>
            <a:ext cx="542032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Plus Jakarta Sans" pitchFamily="34" charset="0"/>
              </a:rPr>
              <a:t>STAGE 1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21519" y="2223604"/>
            <a:ext cx="10349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loader.py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4401" y="2437916"/>
            <a:ext cx="9891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</a:rPr>
              <a:t>Schema validation &amp; ISO parsing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992213" y="2266466"/>
            <a:ext cx="1600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Plus Jakarta Sans" pitchFamily="34" charset="0"/>
              </a:rPr>
              <a:t>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38003" y="1923566"/>
            <a:ext cx="1334988" cy="900113"/>
          </a:xfrm>
          <a:prstGeom prst="roundRect">
            <a:avLst>
              <a:gd name="adj" fmla="val 12698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6109" y="2045010"/>
            <a:ext cx="558664" cy="178594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63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6109" y="2045010"/>
            <a:ext cx="558664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Plus Jakarta Sans" pitchFamily="34" charset="0"/>
              </a:rPr>
              <a:t>STAGE 2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388022" y="2223604"/>
            <a:ext cx="10349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detector.py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420615" y="2437916"/>
            <a:ext cx="96976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</a:rPr>
              <a:t>Stateful flip-back &amp; gap detection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658716" y="2266466"/>
            <a:ext cx="1600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Plus Jakarta Sans" pitchFamily="34" charset="0"/>
              </a:rPr>
              <a:t>➔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904506" y="1923566"/>
            <a:ext cx="1334988" cy="900113"/>
          </a:xfrm>
          <a:prstGeom prst="roundRect">
            <a:avLst>
              <a:gd name="adj" fmla="val 12698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2054" y="2045010"/>
            <a:ext cx="559780" cy="178594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92054" y="2045010"/>
            <a:ext cx="559780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Plus Jakarta Sans" pitchFamily="34" charset="0"/>
              </a:rPr>
              <a:t>STAGE 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054525" y="2223604"/>
            <a:ext cx="10349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metrics.py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261358" y="2437916"/>
            <a:ext cx="6211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</a:rPr>
              <a:t>Per-user KPIs &amp; concentration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325219" y="2266466"/>
            <a:ext cx="1600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Plus Jakarta Sans" pitchFamily="34" charset="0"/>
              </a:rPr>
              <a:t>➔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571009" y="1923566"/>
            <a:ext cx="1334988" cy="900113"/>
          </a:xfrm>
          <a:prstGeom prst="roundRect">
            <a:avLst>
              <a:gd name="adj" fmla="val 12698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56771" y="2045010"/>
            <a:ext cx="563463" cy="178594"/>
          </a:xfrm>
          <a:prstGeom prst="roundRect">
            <a:avLst>
              <a:gd name="adj" fmla="val 50000"/>
            </a:avLst>
          </a:prstGeom>
          <a:solidFill>
            <a:srgbClr val="EC4899">
              <a:alpha val="20000"/>
            </a:srgbClr>
          </a:solidFill>
          <a:ln w="635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56771" y="2045010"/>
            <a:ext cx="563463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Plus Jakarta Sans" pitchFamily="34" charset="0"/>
              </a:rPr>
              <a:t>STAGE 4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721028" y="2223604"/>
            <a:ext cx="10349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classifier.py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816017" y="2437916"/>
            <a:ext cx="8448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</a:rPr>
              <a:t>Rule priority decision engine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991722" y="2266466"/>
            <a:ext cx="1600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Plus Jakarta Sans" pitchFamily="34" charset="0"/>
              </a:rPr>
              <a:t>➔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237512" y="1923566"/>
            <a:ext cx="1334988" cy="900113"/>
          </a:xfrm>
          <a:prstGeom prst="roundRect">
            <a:avLst>
              <a:gd name="adj" fmla="val 12698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24949" y="2045010"/>
            <a:ext cx="560115" cy="178594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24949" y="2045010"/>
            <a:ext cx="560115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Plus Jakarta Sans" pitchFamily="34" charset="0"/>
              </a:rPr>
              <a:t>STAGE 5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7387530" y="2223604"/>
            <a:ext cx="10349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explain.py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434300" y="2437916"/>
            <a:ext cx="9414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</a:rPr>
              <a:t>Deterministic sentence templating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571500" y="3166579"/>
            <a:ext cx="3900488" cy="1394817"/>
          </a:xfrm>
          <a:prstGeom prst="roundRect">
            <a:avLst>
              <a:gd name="adj" fmla="val 10243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39" name="Shape 36"/>
          <p:cNvSpPr/>
          <p:nvPr/>
        </p:nvSpPr>
        <p:spPr>
          <a:xfrm>
            <a:off x="571500" y="3173723"/>
            <a:ext cx="3886200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0" name="Text 37"/>
          <p:cNvSpPr/>
          <p:nvPr/>
        </p:nvSpPr>
        <p:spPr>
          <a:xfrm>
            <a:off x="778669" y="3373748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🖥️ Streamlit Production Studio (app.py)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78669" y="3652354"/>
            <a:ext cx="3486150" cy="521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Interactive dual-view dashboard: Global funnel metrics, ranked user table with reversal rate heatmaps, and deep-dive user inspection with timeline, stage charts, and Sankey choice loops.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672013" y="3166579"/>
            <a:ext cx="3900488" cy="1394817"/>
          </a:xfrm>
          <a:prstGeom prst="roundRect">
            <a:avLst>
              <a:gd name="adj" fmla="val 10243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43" name="Shape 40"/>
          <p:cNvSpPr/>
          <p:nvPr/>
        </p:nvSpPr>
        <p:spPr>
          <a:xfrm>
            <a:off x="4672013" y="3173723"/>
            <a:ext cx="3886200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4" name="Text 41"/>
          <p:cNvSpPr/>
          <p:nvPr/>
        </p:nvSpPr>
        <p:spPr>
          <a:xfrm>
            <a:off x="4879181" y="3373748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🧪 Comprehensive Automated Test Harness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879181" y="3652354"/>
            <a:ext cx="3486150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Full CI suite featuring evaluate.py (confusion matrix &amp; macro averages) and 44 pytest unit tests covering edge cases: zero reversals, flip-back chains, stage boundaries, and concentration ratios.</a:t>
            </a:r>
            <a:endParaRPr lang="en-US" sz="800" dirty="0"/>
          </a:p>
        </p:txBody>
      </p:sp>
    </p:spTree>
  </p:cSld>
  <p:clrMapOvr>
    <a:masterClrMapping/>
  </p:clrMapOvr>
  <p:transition spd="med">
    <p:wheel spokes="3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656345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656345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ALGORITHMIC INNOVATION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662683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Eliminating the Chronic vs. Flip-Flopper Ambiguity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662683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How formulating Decision Concentration ($M_{share}$) achieved mathematical mutual exclusivity.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696529"/>
            <a:ext cx="3900488" cy="2184648"/>
          </a:xfrm>
          <a:prstGeom prst="roundRect">
            <a:avLst>
              <a:gd name="adj" fmla="val 6540"/>
            </a:avLst>
          </a:prstGeom>
          <a:gradFill>
            <a:gsLst>
              <a:gs pos="0">
                <a:srgbClr val="EC4899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EC4899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703673"/>
            <a:ext cx="3886200" cy="21431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903698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🚨 The Diagnosis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182304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Initial tests showed 40/40 Chronic Indecisive users misclassified as Flip-Floppers. Why?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21544" y="2615394"/>
            <a:ext cx="3343275" cy="17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Chronic users had 7–11 total reversals across 3 decisions.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21544" y="2790304"/>
            <a:ext cx="3343275" cy="17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100% of them had $\ge 3$ reversals on at least one decision!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21544" y="2965214"/>
            <a:ext cx="3343275" cy="34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Flip-flopper rule fired first without checking whether churn was </a:t>
            </a:r>
            <a:r>
              <a:rPr lang="en-US" sz="800" i="1" dirty="0">
                <a:solidFill>
                  <a:srgbClr val="CBD5E1"/>
                </a:solidFill>
                <a:latin typeface="Plus Jakarta Sans" pitchFamily="34" charset="0"/>
              </a:rPr>
              <a:t>isolated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or </a:t>
            </a:r>
            <a:r>
              <a:rPr lang="en-US" sz="800" i="1" dirty="0">
                <a:solidFill>
                  <a:srgbClr val="CBD5E1"/>
                </a:solidFill>
                <a:latin typeface="Plus Jakarta Sans" pitchFamily="34" charset="0"/>
              </a:rPr>
              <a:t>dispersed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72013" y="1696529"/>
            <a:ext cx="3900488" cy="2184648"/>
          </a:xfrm>
          <a:prstGeom prst="roundRect">
            <a:avLst>
              <a:gd name="adj" fmla="val 6540"/>
            </a:avLst>
          </a:prstGeom>
          <a:gradFill>
            <a:gsLst>
              <a:gs pos="0">
                <a:srgbClr val="10B981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10B98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7" name="Shape 14"/>
          <p:cNvSpPr/>
          <p:nvPr/>
        </p:nvSpPr>
        <p:spPr>
          <a:xfrm>
            <a:off x="4672013" y="1703673"/>
            <a:ext cx="3886200" cy="21431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4879181" y="1903698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✨ The Mathematical Solution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79181" y="2182304"/>
            <a:ext cx="348615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We engineered a new KPI: </a:t>
            </a: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Max Single-Decision Share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: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879181" y="2441711"/>
            <a:ext cx="3486150" cy="1232297"/>
          </a:xfrm>
          <a:prstGeom prst="roundRect">
            <a:avLst>
              <a:gd name="adj" fmla="val 6957"/>
            </a:avLst>
          </a:prstGeom>
          <a:solidFill>
            <a:srgbClr val="070A13">
              <a:alpha val="9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9181" y="2441711"/>
            <a:ext cx="3486150" cy="1232297"/>
          </a:xfrm>
          <a:prstGeom prst="rect">
            <a:avLst/>
          </a:prstGeom>
          <a:noFill/>
          <a:ln/>
        </p:spPr>
        <p:txBody>
          <a:bodyPr wrap="square" lIns="154686" tIns="154686" rIns="154686" bIns="15468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Concentration Metric: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M_share = max(reversals_per_decision) / total_reversals </a:t>
            </a:r>
            <a:r>
              <a:rPr lang="en-US" sz="700" b="1" dirty="0">
                <a:solidFill>
                  <a:srgbClr val="F472B6"/>
                </a:solidFill>
                <a:latin typeface="JetBrains Mono" pitchFamily="34" charset="0"/>
              </a:rPr>
              <a:t>if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M_share &gt;= </a:t>
            </a:r>
            <a:r>
              <a:rPr lang="en-US" sz="700" dirty="0">
                <a:solidFill>
                  <a:srgbClr val="FBBF24"/>
                </a:solidFill>
                <a:latin typeface="JetBrains Mono" pitchFamily="34" charset="0"/>
              </a:rPr>
              <a:t>0.60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</a:t>
            </a:r>
            <a:r>
              <a:rPr lang="en-US" sz="700" dirty="0">
                <a:solidFill>
                  <a:srgbClr val="60A5FA"/>
                </a:solidFill>
                <a:latin typeface="JetBrains Mono" pitchFamily="34" charset="0"/>
              </a:rPr>
              <a:t>classify_as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(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"flip_flopper"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)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Concentrated (min was 0.67)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b="1" dirty="0">
                <a:solidFill>
                  <a:srgbClr val="F472B6"/>
                </a:solidFill>
                <a:latin typeface="JetBrains Mono" pitchFamily="34" charset="0"/>
              </a:rPr>
              <a:t>elif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n_dec &gt;= </a:t>
            </a:r>
            <a:r>
              <a:rPr lang="en-US" sz="700" dirty="0">
                <a:solidFill>
                  <a:srgbClr val="FBBF24"/>
                </a:solidFill>
                <a:latin typeface="JetBrains Mono" pitchFamily="34" charset="0"/>
              </a:rPr>
              <a:t>2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b="1" dirty="0">
                <a:solidFill>
                  <a:srgbClr val="F472B6"/>
                </a:solidFill>
                <a:latin typeface="JetBrains Mono" pitchFamily="34" charset="0"/>
              </a:rPr>
              <a:t>and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rate &gt;= </a:t>
            </a:r>
            <a:r>
              <a:rPr lang="en-US" sz="700" dirty="0">
                <a:solidFill>
                  <a:srgbClr val="FBBF24"/>
                </a:solidFill>
                <a:latin typeface="JetBrains Mono" pitchFamily="34" charset="0"/>
              </a:rPr>
              <a:t>0.75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: </a:t>
            </a:r>
            <a:r>
              <a:rPr lang="en-US" sz="700" dirty="0">
                <a:solidFill>
                  <a:srgbClr val="60A5FA"/>
                </a:solidFill>
                <a:latin typeface="JetBrains Mono" pitchFamily="34" charset="0"/>
              </a:rPr>
              <a:t>classify_as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(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"chronic_indecisive"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)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Dispersed (max was 0.50)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71500" y="4024052"/>
            <a:ext cx="8001000" cy="592931"/>
          </a:xfrm>
          <a:prstGeom prst="roundRect">
            <a:avLst>
              <a:gd name="adj" fmla="val 24096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3" name="Text 20"/>
          <p:cNvSpPr/>
          <p:nvPr/>
        </p:nvSpPr>
        <p:spPr>
          <a:xfrm>
            <a:off x="571500" y="4024052"/>
            <a:ext cx="8001000" cy="592931"/>
          </a:xfrm>
          <a:prstGeom prst="rect">
            <a:avLst/>
          </a:prstGeom>
          <a:noFill/>
          <a:ln/>
        </p:spPr>
        <p:txBody>
          <a:bodyPr wrap="none" lIns="213614" tIns="213614" rIns="213614" bIns="21361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Plus Jakarta Sans" pitchFamily="34" charset="0"/>
              </a:rPr>
              <a:t> Result: Clean 0.60 separation boundary. Evaluation accuracy leapt from 80.0% ➔ 100.0% with zero false positives. 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1500" y="4031196"/>
            <a:ext cx="7986713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 spd="med">
    <p:push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397384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397384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AUDITABILITY &amp; SPEED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514539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Deterministic Zero-LLM Explainability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51453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Enterprise-grade evidence generation: 0ms latency, zero hallucinations, fully auditable.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724658"/>
            <a:ext cx="3900488" cy="2864197"/>
          </a:xfrm>
          <a:prstGeom prst="roundRect">
            <a:avLst>
              <a:gd name="adj" fmla="val 4988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731801"/>
            <a:ext cx="3886200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931826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💬 Dynamic Template Synthesis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210433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Every user receives an instant human-readable sentence synthesized directly from their metrics and reversal records: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8669" y="2672097"/>
            <a:ext cx="3486150" cy="1543050"/>
          </a:xfrm>
          <a:prstGeom prst="roundRect">
            <a:avLst>
              <a:gd name="adj" fmla="val 5556"/>
            </a:avLst>
          </a:prstGeom>
          <a:solidFill>
            <a:srgbClr val="070A13">
              <a:alpha val="9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8669" y="2672097"/>
            <a:ext cx="3486150" cy="1543050"/>
          </a:xfrm>
          <a:prstGeom prst="rect">
            <a:avLst/>
          </a:prstGeom>
          <a:noFill/>
          <a:ln/>
        </p:spPr>
        <p:txBody>
          <a:bodyPr wrap="square" lIns="154686" tIns="154686" rIns="154686" bIns="15468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Flip-Flopper Evidence: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"U045 changed 'plan' 4 times, 2 of them back to a previous choice, mostly at the Review stage."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Single Corrector Evidence: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"U001 made a quick correction to 'payment_method' within 38 s (changed from 'upi' to 'debit_card') and did not look back."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i="1" dirty="0">
                <a:solidFill>
                  <a:srgbClr val="64748B"/>
                </a:solidFill>
                <a:latin typeface="JetBrains Mono" pitchFamily="34" charset="0"/>
              </a:rPr>
              <a:t># Late Reverser Evidence: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</a:rPr>
              <a:t> </a:t>
            </a:r>
            <a:r>
              <a:rPr lang="en-US" sz="700" dirty="0">
                <a:solidFill>
                  <a:srgbClr val="34D399"/>
                </a:solidFill>
                <a:latin typeface="JetBrains Mono" pitchFamily="34" charset="0"/>
              </a:rPr>
              <a:t>"U061 reversed 2 decision(s) late in the funnel: 1 at Confirmation and 1 at Post-commit."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2013" y="1724658"/>
            <a:ext cx="3900488" cy="2864197"/>
          </a:xfrm>
          <a:prstGeom prst="roundRect">
            <a:avLst>
              <a:gd name="adj" fmla="val 4988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6" name="Shape 13"/>
          <p:cNvSpPr/>
          <p:nvPr/>
        </p:nvSpPr>
        <p:spPr>
          <a:xfrm>
            <a:off x="4672013" y="1731801"/>
            <a:ext cx="3886200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7" name="Text 14"/>
          <p:cNvSpPr/>
          <p:nvPr/>
        </p:nvSpPr>
        <p:spPr>
          <a:xfrm>
            <a:off x="4879181" y="1931826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⚡ Why Zero-LLM Outperforms AI Prompts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mc:AlternateContent xmlns:mc="http://schemas.openxmlformats.org/markup-compatibility/2006">
              <mc:Choice xmlns:p15="http://schemas.microsoft.com/office/powerpoint/2012/main" Requires="p15">
                <p:transition spd="med">
                  <p15:prstTrans prst="curtains"/>
                </p:transition>
              </mc:Choice>
              <mc:Fallback>
                <p:transition spd="med">
                  <p:split orient="horz" dir="out"/>
                </p:transition>
              </mc:Fallback>
            </mc:AlternateConten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9181" y="2210433"/>
          <a:ext cx="3486150" cy="2171254"/>
        </p:xfrm>
        <a:graphic>
          <a:graphicData uri="http://schemas.openxmlformats.org/drawingml/2006/table">
            <a:tbl>
              <a:tblPr/>
              <a:tblGrid>
                <a:gridCol w="1069442"/>
                <a:gridCol w="1101923"/>
                <a:gridCol w="1300497"/>
              </a:tblGrid>
              <a:tr h="458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Dimension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LLM API Call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CEREBRO Templates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</a:tr>
              <a:tr h="329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Latency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800–2,500 ms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&lt; 0.05 ms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Cost / 10k users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$15 – $40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$0.00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Determinism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Hallucination risk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 Reliable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13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Compliance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Data leakage risk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Air-gapped Local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319585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319585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DATA VISUALISATION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446205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Interactive Visual Analytics Studio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44620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Three purpose-built Plotly charts that bring user choice trajectories to life.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2136763"/>
            <a:ext cx="2552663" cy="2039987"/>
          </a:xfrm>
          <a:prstGeom prst="roundRect">
            <a:avLst>
              <a:gd name="adj" fmla="val 7004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2143906"/>
            <a:ext cx="253826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2343931"/>
            <a:ext cx="2138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📈 Decision Timelines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622538"/>
            <a:ext cx="2138325" cy="87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Visualizes step-by-step choice trajectories over elapsed time, explicitly flagging reversals with highlighted red circular markers and directional labels (e.g. basic → premium).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8669" y="3583818"/>
            <a:ext cx="2138325" cy="385763"/>
          </a:xfrm>
          <a:prstGeom prst="roundRect">
            <a:avLst>
              <a:gd name="adj" fmla="val 14815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8669" y="3583818"/>
            <a:ext cx="2138325" cy="385763"/>
          </a:xfrm>
          <a:prstGeom prst="rect">
            <a:avLst/>
          </a:prstGeom>
          <a:noFill/>
          <a:ln/>
        </p:spPr>
        <p:txBody>
          <a:bodyPr wrap="square" lIns="88392" tIns="88392" rIns="88392" bIns="88392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onsolas" pitchFamily="34" charset="0"/>
              </a:rPr>
              <a:t>[Timeline: Choice vs Time + Red Reversals]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295613" y="2136763"/>
            <a:ext cx="2552663" cy="2039987"/>
          </a:xfrm>
          <a:prstGeom prst="roundRect">
            <a:avLst>
              <a:gd name="adj" fmla="val 7004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6" name="Shape 13"/>
          <p:cNvSpPr/>
          <p:nvPr/>
        </p:nvSpPr>
        <p:spPr>
          <a:xfrm>
            <a:off x="3295613" y="2143906"/>
            <a:ext cx="253826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7" name="Text 14"/>
          <p:cNvSpPr/>
          <p:nvPr/>
        </p:nvSpPr>
        <p:spPr>
          <a:xfrm>
            <a:off x="3502782" y="2343931"/>
            <a:ext cx="2138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📊 Stage Funnel Distribution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02782" y="2622538"/>
            <a:ext cx="2138325" cy="86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Bar chart ordering reversals strictly by canonical checkout stages (Browsing $\to$ Selection $\to$ Review $\to$ Confirmation $\to$ Post-commit), highlighting where friction clusters.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502782" y="3576675"/>
            <a:ext cx="2138325" cy="385763"/>
          </a:xfrm>
          <a:prstGeom prst="roundRect">
            <a:avLst>
              <a:gd name="adj" fmla="val 14815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502782" y="3576675"/>
            <a:ext cx="2138325" cy="385763"/>
          </a:xfrm>
          <a:prstGeom prst="rect">
            <a:avLst/>
          </a:prstGeom>
          <a:noFill/>
          <a:ln/>
        </p:spPr>
        <p:txBody>
          <a:bodyPr wrap="square" lIns="88392" tIns="88392" rIns="88392" bIns="88392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</a:rPr>
              <a:t>[Stage Reversal Histogram in Funnel Order]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019726" y="2136763"/>
            <a:ext cx="2552774" cy="2039987"/>
          </a:xfrm>
          <a:prstGeom prst="roundRect">
            <a:avLst>
              <a:gd name="adj" fmla="val 7004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2" name="Shape 19"/>
          <p:cNvSpPr/>
          <p:nvPr/>
        </p:nvSpPr>
        <p:spPr>
          <a:xfrm>
            <a:off x="6019726" y="2143906"/>
            <a:ext cx="2538487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6226894" y="2343931"/>
            <a:ext cx="21384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🔀 Sankey Transition Loops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26894" y="2622538"/>
            <a:ext cx="2138437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Choice-to-choice flow diagram that explicitly renders circular loops (e.g. credit_card ➔ upi ➔ credit_card), exposing exact decision churn cycles.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26894" y="3410136"/>
            <a:ext cx="2138437" cy="278606"/>
          </a:xfrm>
          <a:prstGeom prst="roundRect">
            <a:avLst>
              <a:gd name="adj" fmla="val 20513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226894" y="3410136"/>
            <a:ext cx="2138437" cy="278606"/>
          </a:xfrm>
          <a:prstGeom prst="rect">
            <a:avLst/>
          </a:prstGeom>
          <a:noFill/>
          <a:ln/>
        </p:spPr>
        <p:txBody>
          <a:bodyPr wrap="none" lIns="88392" tIns="88392" rIns="88392" bIns="88392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472B6"/>
                </a:solidFill>
                <a:latin typeface="Consolas" pitchFamily="34" charset="0"/>
              </a:rPr>
              <a:t>[Sankey Flow Diagram exposing Loops]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0" dir="r"/>
      </p:transition>
    </mc:Choice>
    <mc:Fallback>
      <p:transition spd="med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448507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448507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EMPIRICAL VALIDATION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525556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100% Accuracy Benchmark &amp; Test Suite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525556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Rigorous validation across 200 balanced ground-truth users and 44 unit tests.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570062"/>
            <a:ext cx="3900488" cy="3451324"/>
          </a:xfrm>
          <a:prstGeom prst="roundRect">
            <a:avLst>
              <a:gd name="adj" fmla="val 4140"/>
            </a:avLst>
          </a:prstGeom>
          <a:gradFill>
            <a:gsLst>
              <a:gs pos="0">
                <a:srgbClr val="10B981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10B98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577206"/>
            <a:ext cx="3886200" cy="21431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777231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🎯 Perfect Confusion Matrix (evaluate.py)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mc:AlternateContent xmlns:mc="http://schemas.openxmlformats.org/markup-compatibility/2006">
              <mc:Choice xmlns:p14="http://schemas.microsoft.com/office/powerpoint/2010/main" Requires="p14">
                <p:transition spd="med">
                  <p14:flythrough dir="out" hasBounce="0"/>
                </p:transition>
              </mc:Choice>
              <mc:Fallback>
                <p:transition spd="med">
                  <p:zoom dir="out"/>
                </p:transition>
              </mc:Fallback>
            </mc:AlternateConten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8669" y="2055837"/>
          <a:ext cx="3822688" cy="2758380"/>
        </p:xfrm>
        <a:graphic>
          <a:graphicData uri="http://schemas.openxmlformats.org/drawingml/2006/table">
            <a:tbl>
              <a:tblPr/>
              <a:tblGrid>
                <a:gridCol w="785478"/>
                <a:gridCol w="712254"/>
                <a:gridCol w="595275"/>
                <a:gridCol w="681447"/>
                <a:gridCol w="528749"/>
                <a:gridCol w="505197"/>
              </a:tblGrid>
              <a:tr h="458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True \ Predicted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Decisive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Single Corr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Chronic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Flip-Flop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highlight>
                            <a:srgbClr val="4B5462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Late Rev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</a:tr>
              <a:tr h="45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Decisive (40)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4D399"/>
                          </a:solidFill>
                          <a:highlight>
                            <a:srgbClr val="878B95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40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 Corr (40)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4D399"/>
                          </a:solidFill>
                          <a:highlight>
                            <a:srgbClr val="878B95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40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Chronic (40)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4D399"/>
                          </a:solidFill>
                          <a:highlight>
                            <a:srgbClr val="878B95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40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Flip-Flop (40)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4D399"/>
                          </a:solidFill>
                          <a:highlight>
                            <a:srgbClr val="878B95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40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71C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  <a:tr h="4513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Late Rev (40)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highlight>
                            <a:srgbClr val="878B95"/>
                          </a:highlight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4D399"/>
                          </a:solidFill>
                          <a:highlight>
                            <a:srgbClr val="878B95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40</a:t>
                      </a:r>
                      <a:endParaRPr lang="en-US" sz="8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672013" y="1570062"/>
            <a:ext cx="3900488" cy="3451324"/>
          </a:xfrm>
          <a:prstGeom prst="roundRect">
            <a:avLst>
              <a:gd name="adj" fmla="val 4140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4" name="Shape 10"/>
          <p:cNvSpPr/>
          <p:nvPr/>
        </p:nvSpPr>
        <p:spPr>
          <a:xfrm>
            <a:off x="4672013" y="1577206"/>
            <a:ext cx="3886200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5" name="Text 11"/>
          <p:cNvSpPr/>
          <p:nvPr/>
        </p:nvSpPr>
        <p:spPr>
          <a:xfrm>
            <a:off x="4879181" y="1777231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🧪 56 / 56 Tests Passed (Unit &amp; Cross-Domain)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79181" y="2055837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Automated test suite verifying every component against mathematical edge cases and arbitrary schemas: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022056" y="2488927"/>
            <a:ext cx="3343275" cy="542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80000"/>
              </a:lnSpc>
              <a:buSzPct val="100000"/>
              <a:buChar char="•"/>
            </a:pP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test_detector.py (17 tests):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Zero change, single change, $A \to B \to A$ flip-backs, $A \to B \to C$ progressions, multi-stage transitions, missing stage column synthesis.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022056" y="3031741"/>
            <a:ext cx="3343275" cy="36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80000"/>
              </a:lnSpc>
              <a:buSzPct val="100000"/>
              <a:buChar char="•"/>
            </a:pP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test_metrics.py (10 tests):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Zero-reversal NaNs, rate division safeguards, stage bucketing, concentration shares.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022056" y="3393616"/>
            <a:ext cx="3343275" cy="36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80000"/>
              </a:lnSpc>
              <a:buSzPct val="100000"/>
              <a:buChar char="•"/>
            </a:pP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test_classifier.py (20 tests):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Strict priority resolution, boundary thresholds, mutual exclusivity guards, explainability templates.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022056" y="3755492"/>
            <a:ext cx="3343275" cy="542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80000"/>
              </a:lnSpc>
              <a:buSzPct val="100000"/>
              <a:buChar char="•"/>
            </a:pP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test_multi_dataset_pipeline.py (9 tests):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End-to-end integration across Real UCI/Databricks Retail, Healthcare, Hotel, Cloud DevOps, EdTech, Gaming, and E-commerce.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099468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099468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BUSINESS VALUE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437286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Actionable Product Interventions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437286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Turning behavioral pattern detection into proactive conversion recovery.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611920"/>
            <a:ext cx="3900488" cy="1444823"/>
          </a:xfrm>
          <a:prstGeom prst="roundRect">
            <a:avLst>
              <a:gd name="adj" fmla="val 9889"/>
            </a:avLst>
          </a:prstGeom>
          <a:gradFill>
            <a:gsLst>
              <a:gs pos="0">
                <a:srgbClr val="EC4899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EC4899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619064"/>
            <a:ext cx="3886200" cy="21431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819089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🔁 For Repeated Flip-Floppers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097695"/>
            <a:ext cx="348615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Symptom: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Oscillating between 2 choices (e.g. Plan A vs Plan B).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8669" y="2328528"/>
            <a:ext cx="3486150" cy="521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Plus Jakarta Sans" pitchFamily="34" charset="0"/>
              </a:rPr>
              <a:t>Automated Intervention:</a:t>
            </a:r>
            <a:r>
              <a:rPr lang="en-US" sz="800" dirty="0">
                <a:solidFill>
                  <a:srgbClr val="E2E8F0"/>
                </a:solidFill>
                <a:latin typeface="Plus Jakarta Sans" pitchFamily="34" charset="0"/>
              </a:rPr>
              <a:t> Inject a dynamic side-by-side comparison modal highlighting exact differentiator features to break the loop.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72013" y="1611920"/>
            <a:ext cx="3900488" cy="1444823"/>
          </a:xfrm>
          <a:prstGeom prst="roundRect">
            <a:avLst>
              <a:gd name="adj" fmla="val 9889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5" name="Shape 12"/>
          <p:cNvSpPr/>
          <p:nvPr/>
        </p:nvSpPr>
        <p:spPr>
          <a:xfrm>
            <a:off x="4672013" y="1619064"/>
            <a:ext cx="3886200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4879181" y="1819089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⚠️ For Late Reversers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79181" y="2097695"/>
            <a:ext cx="348615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Symptom: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Sudden hesitation at Confirmation / Post-commit.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79181" y="2328528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Plus Jakarta Sans" pitchFamily="34" charset="0"/>
              </a:rPr>
              <a:t>Automated Intervention:</a:t>
            </a:r>
            <a:r>
              <a:rPr lang="en-US" sz="800" dirty="0">
                <a:solidFill>
                  <a:srgbClr val="E2E8F0"/>
                </a:solidFill>
                <a:latin typeface="Plus Jakarta Sans" pitchFamily="34" charset="0"/>
              </a:rPr>
              <a:t> Trigger trust signals: </a:t>
            </a:r>
            <a:r>
              <a:rPr lang="en-US" sz="800" i="1" dirty="0">
                <a:solidFill>
                  <a:srgbClr val="E2E8F0"/>
                </a:solidFill>
                <a:latin typeface="Plus Jakarta Sans" pitchFamily="34" charset="0"/>
              </a:rPr>
              <a:t>"30-day money-back guarantee"</a:t>
            </a:r>
            <a:r>
              <a:rPr lang="en-US" sz="800" dirty="0">
                <a:solidFill>
                  <a:srgbClr val="E2E8F0"/>
                </a:solidFill>
                <a:latin typeface="Plus Jakarta Sans" pitchFamily="34" charset="0"/>
              </a:rPr>
              <a:t> or instant live chat assistance modal.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1500" y="3256769"/>
            <a:ext cx="3900488" cy="1444823"/>
          </a:xfrm>
          <a:prstGeom prst="roundRect">
            <a:avLst>
              <a:gd name="adj" fmla="val 9889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0" name="Shape 17"/>
          <p:cNvSpPr/>
          <p:nvPr/>
        </p:nvSpPr>
        <p:spPr>
          <a:xfrm>
            <a:off x="571500" y="3263912"/>
            <a:ext cx="3886200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21" name="Text 18"/>
          <p:cNvSpPr/>
          <p:nvPr/>
        </p:nvSpPr>
        <p:spPr>
          <a:xfrm>
            <a:off x="778669" y="3463937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🌀 For Chronic Indecisives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8669" y="3742544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Symptom: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Churn across multiple choices (plan + add-on + payment).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8669" y="4147058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Plus Jakarta Sans" pitchFamily="34" charset="0"/>
              </a:rPr>
              <a:t>Automated Intervention:</a:t>
            </a:r>
            <a:r>
              <a:rPr lang="en-US" sz="800" dirty="0">
                <a:solidFill>
                  <a:srgbClr val="E2E8F0"/>
                </a:solidFill>
                <a:latin typeface="Plus Jakarta Sans" pitchFamily="34" charset="0"/>
              </a:rPr>
              <a:t> Offer an </a:t>
            </a:r>
            <a:r>
              <a:rPr lang="en-US" sz="800" i="1" dirty="0">
                <a:solidFill>
                  <a:srgbClr val="E2E8F0"/>
                </a:solidFill>
                <a:latin typeface="Plus Jakarta Sans" pitchFamily="34" charset="0"/>
              </a:rPr>
              <a:t>"All-in-One Curated Bundle"</a:t>
            </a:r>
            <a:r>
              <a:rPr lang="en-US" sz="800" dirty="0">
                <a:solidFill>
                  <a:srgbClr val="E2E8F0"/>
                </a:solidFill>
                <a:latin typeface="Plus Jakarta Sans" pitchFamily="34" charset="0"/>
              </a:rPr>
              <a:t> with single-click checkout to remove cognitive fatigue.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72013" y="3256769"/>
            <a:ext cx="3900488" cy="1444823"/>
          </a:xfrm>
          <a:prstGeom prst="roundRect">
            <a:avLst>
              <a:gd name="adj" fmla="val 9889"/>
            </a:avLst>
          </a:prstGeom>
          <a:gradFill>
            <a:gsLst>
              <a:gs pos="0">
                <a:srgbClr val="10B981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10B98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5" name="Shape 22"/>
          <p:cNvSpPr/>
          <p:nvPr/>
        </p:nvSpPr>
        <p:spPr>
          <a:xfrm>
            <a:off x="4672013" y="3263912"/>
            <a:ext cx="3886200" cy="21431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26" name="Text 23"/>
          <p:cNvSpPr/>
          <p:nvPr/>
        </p:nvSpPr>
        <p:spPr>
          <a:xfrm>
            <a:off x="4879181" y="3463937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🔧 For Single Correctors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79181" y="3742544"/>
            <a:ext cx="3486150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Plus Jakarta Sans" pitchFamily="34" charset="0"/>
              </a:rPr>
              <a:t>Symptom:</a:t>
            </a: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 Fast 1-off change within $\le 60\text{s}$.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79181" y="3973376"/>
            <a:ext cx="3486150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Plus Jakarta Sans" pitchFamily="34" charset="0"/>
              </a:rPr>
              <a:t>Automated Intervention:</a:t>
            </a:r>
            <a:r>
              <a:rPr lang="en-US" sz="800" dirty="0">
                <a:solidFill>
                  <a:srgbClr val="E2E8F0"/>
                </a:solidFill>
                <a:latin typeface="Plus Jakarta Sans" pitchFamily="34" charset="0"/>
              </a:rPr>
              <a:t> Suppress intrusive popups; allow them to complete their purchase smoothly without interruption.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airplane"/>
      </p:transition>
    </mc:Choice>
    <mc:Fallback>
      <p:transition spd="med">
        <p:push dir="l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1139540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1139540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IMPLEMENTATION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511124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Technology Stack &amp; Production Design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51112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Clean, maintainable architecture ready for enterprise cloud integration.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648867"/>
            <a:ext cx="2552663" cy="1804020"/>
          </a:xfrm>
          <a:prstGeom prst="roundRect">
            <a:avLst>
              <a:gd name="adj" fmla="val 7920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656011"/>
            <a:ext cx="253826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778669" y="1856036"/>
            <a:ext cx="2138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🐍 Core Engine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8669" y="2134642"/>
            <a:ext cx="2138325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Python 3.12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typing annotations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8669" y="2319821"/>
            <a:ext cx="2138325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Pandas &amp; NumPy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vector operations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8669" y="2505001"/>
            <a:ext cx="2138325" cy="3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Stateful event iteration with $O(N)$ efficiency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8669" y="2875359"/>
            <a:ext cx="2138325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Zero external heavy dependencies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95613" y="1648867"/>
            <a:ext cx="2552663" cy="1804020"/>
          </a:xfrm>
          <a:prstGeom prst="roundRect">
            <a:avLst>
              <a:gd name="adj" fmla="val 7920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7" name="Shape 14"/>
          <p:cNvSpPr/>
          <p:nvPr/>
        </p:nvSpPr>
        <p:spPr>
          <a:xfrm>
            <a:off x="3295613" y="1656011"/>
            <a:ext cx="2538264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3502782" y="1856036"/>
            <a:ext cx="2138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⚡ UI &amp; Analytics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02782" y="2134642"/>
            <a:ext cx="2138325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Streamlit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reactive dashboard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502782" y="2319821"/>
            <a:ext cx="2138325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Plotly Express &amp; GraphObjects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502782" y="2505001"/>
            <a:ext cx="2138325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Dual-tab layout (Global + Deep Dive)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502782" y="2690180"/>
            <a:ext cx="2138325" cy="192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st.cache_data optimization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19726" y="1648867"/>
            <a:ext cx="2552774" cy="1804020"/>
          </a:xfrm>
          <a:prstGeom prst="roundRect">
            <a:avLst>
              <a:gd name="adj" fmla="val 7920"/>
            </a:avLst>
          </a:prstGeom>
          <a:solidFill>
            <a:srgbClr val="121A2C">
              <a:alpha val="7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4" name="Shape 21"/>
          <p:cNvSpPr/>
          <p:nvPr/>
        </p:nvSpPr>
        <p:spPr>
          <a:xfrm>
            <a:off x="6019726" y="1656011"/>
            <a:ext cx="2538487" cy="214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Text 22"/>
          <p:cNvSpPr/>
          <p:nvPr/>
        </p:nvSpPr>
        <p:spPr>
          <a:xfrm>
            <a:off x="6226894" y="1856036"/>
            <a:ext cx="21384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🌐 Dynamic Dataset Engine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26894" y="2134642"/>
            <a:ext cx="2138437" cy="3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Auto-detects schemas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(exact, alias, heuristic)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26894" y="2505001"/>
            <a:ext cx="2138437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Discovers custom funnels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(any stages)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226894" y="2690180"/>
            <a:ext cx="2138437" cy="185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Synthesizes missing stages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(zero crashes)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226894" y="2875359"/>
            <a:ext cx="2138437" cy="3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• </a:t>
            </a:r>
            <a:r>
              <a:rPr lang="en-US" sz="800" b="1" dirty="0">
                <a:solidFill>
                  <a:srgbClr val="CBD5E1"/>
                </a:solidFill>
                <a:latin typeface="Plus Jakarta Sans" pitchFamily="34" charset="0"/>
              </a:rPr>
              <a:t>Multi-domain presets:</a:t>
            </a:r>
            <a:r>
              <a:rPr lang="en-US" sz="800" dirty="0">
                <a:solidFill>
                  <a:srgbClr val="CBD5E1"/>
                </a:solidFill>
                <a:latin typeface="Plus Jakarta Sans" pitchFamily="34" charset="0"/>
              </a:rPr>
              <a:t> Real Retail, Healthcare, Travel, Cloud, EdTech, Gaming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71500" y="3624337"/>
            <a:ext cx="8001000" cy="1040309"/>
          </a:xfrm>
          <a:prstGeom prst="roundRect">
            <a:avLst>
              <a:gd name="adj" fmla="val 13734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31" name="Shape 28"/>
          <p:cNvSpPr/>
          <p:nvPr/>
        </p:nvSpPr>
        <p:spPr>
          <a:xfrm>
            <a:off x="571500" y="3631481"/>
            <a:ext cx="7986713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32" name="Text 29"/>
          <p:cNvSpPr/>
          <p:nvPr/>
        </p:nvSpPr>
        <p:spPr>
          <a:xfrm>
            <a:off x="778669" y="3831506"/>
            <a:ext cx="75866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</a:rPr>
              <a:t>🚀 Scalability &amp; Streaming Roadmap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8669" y="4110112"/>
            <a:ext cx="7586663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</a:rPr>
              <a:t>Designed to integrate seamlessly with Kafka / Kinesis event streams or Snowflake / BigQuery data warehouses for real-time edge classification during live checkout sessions.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airplane"/>
      </p:transition>
    </mc:Choice>
    <mc:Fallback>
      <p:transition spd="med">
        <p:push dir="l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00050"/>
            <a:ext cx="8001000" cy="941412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71500" y="1334319"/>
            <a:ext cx="8001000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400050"/>
            <a:ext cx="935831" cy="208508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400050"/>
            <a:ext cx="935831" cy="208508"/>
          </a:xfrm>
          <a:prstGeom prst="rect">
            <a:avLst/>
          </a:prstGeom>
          <a:noFill/>
          <a:ln/>
        </p:spPr>
        <p:txBody>
          <a:bodyPr wrap="none" lIns="107544" tIns="48616" rIns="107544" bIns="48616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  <a:latin typeface="Plus Jakarta Sans" pitchFamily="34" charset="0"/>
              </a:rPr>
              <a:t>CONCLUSION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665708"/>
            <a:ext cx="445970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spc="94" kern="0" dirty="0">
                <a:gradFill>
                  <a:gsLst>
                    <a:gs pos="0">
                      <a:srgbClr val="FFFFFF"/>
                    </a:gs>
                    <a:gs pos="40000">
                      <a:srgbClr val="FFFFFF"/>
                    </a:gs>
                    <a:gs pos="100000">
                      <a:srgbClr val="CBD5E1"/>
                    </a:gs>
                  </a:gsLst>
                  <a:lin ang="2700000" scaled="1"/>
                </a:gradFill>
                <a:latin typeface="Plus Jakarta Sans" pitchFamily="34" charset="0"/>
              </a:rPr>
              <a:t>Summary &amp; Future Innovations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1034281"/>
            <a:ext cx="44597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</a:rPr>
              <a:t>Transforming user hesitation from a blindspot into a competitive advantage.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808038"/>
            <a:ext cx="2552663" cy="890067"/>
          </a:xfrm>
          <a:prstGeom prst="roundRect">
            <a:avLst>
              <a:gd name="adj" fmla="val 16052"/>
            </a:avLst>
          </a:prstGeom>
          <a:gradFill>
            <a:gsLst>
              <a:gs pos="0">
                <a:srgbClr val="10B981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10B98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571500" y="1815182"/>
            <a:ext cx="2538264" cy="21431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1" name="Text 8"/>
          <p:cNvSpPr/>
          <p:nvPr/>
        </p:nvSpPr>
        <p:spPr>
          <a:xfrm>
            <a:off x="1559793" y="2015207"/>
            <a:ext cx="5760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113" kern="0" dirty="0">
                <a:solidFill>
                  <a:srgbClr val="34D399"/>
                </a:solidFill>
                <a:latin typeface="JetBrains Mono" pitchFamily="34" charset="0"/>
              </a:rPr>
              <a:t>100%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78669" y="2369493"/>
            <a:ext cx="21383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b="1" spc="82" kern="0" dirty="0">
                <a:solidFill>
                  <a:srgbClr val="94A3B8"/>
                </a:solidFill>
                <a:latin typeface="Plus Jakarta Sans" pitchFamily="34" charset="0"/>
              </a:rPr>
              <a:t>ACCURACY ACHIEVED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295613" y="1808038"/>
            <a:ext cx="2552663" cy="890067"/>
          </a:xfrm>
          <a:prstGeom prst="roundRect">
            <a:avLst>
              <a:gd name="adj" fmla="val 16052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4" name="Shape 11"/>
          <p:cNvSpPr/>
          <p:nvPr/>
        </p:nvSpPr>
        <p:spPr>
          <a:xfrm>
            <a:off x="3295613" y="1815182"/>
            <a:ext cx="2538264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5" name="Text 12"/>
          <p:cNvSpPr/>
          <p:nvPr/>
        </p:nvSpPr>
        <p:spPr>
          <a:xfrm>
            <a:off x="4067808" y="2015207"/>
            <a:ext cx="10081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113" kern="0" dirty="0">
                <a:solidFill>
                  <a:srgbClr val="818CF8"/>
                </a:solidFill>
                <a:latin typeface="JetBrains Mono" pitchFamily="34" charset="0"/>
              </a:rPr>
              <a:t>56 / 56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502782" y="2369493"/>
            <a:ext cx="21383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b="1" spc="82" kern="0" dirty="0">
                <a:solidFill>
                  <a:srgbClr val="94A3B8"/>
                </a:solidFill>
                <a:latin typeface="Plus Jakarta Sans" pitchFamily="34" charset="0"/>
              </a:rPr>
              <a:t>TESTS PASSED (ALL DATASETS)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019726" y="1808038"/>
            <a:ext cx="2552774" cy="890067"/>
          </a:xfrm>
          <a:prstGeom prst="roundRect">
            <a:avLst>
              <a:gd name="adj" fmla="val 16052"/>
            </a:avLst>
          </a:prstGeom>
          <a:gradFill>
            <a:gsLst>
              <a:gs pos="0">
                <a:srgbClr val="EC4899">
                  <a:alpha val="10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EC4899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18" name="Shape 15"/>
          <p:cNvSpPr/>
          <p:nvPr/>
        </p:nvSpPr>
        <p:spPr>
          <a:xfrm>
            <a:off x="6019726" y="1815182"/>
            <a:ext cx="2538487" cy="21431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19" name="Text 16"/>
          <p:cNvSpPr/>
          <p:nvPr/>
        </p:nvSpPr>
        <p:spPr>
          <a:xfrm>
            <a:off x="6936023" y="2015207"/>
            <a:ext cx="72017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113" kern="0" dirty="0">
                <a:solidFill>
                  <a:srgbClr val="F472B6"/>
                </a:solidFill>
                <a:latin typeface="JetBrains Mono" pitchFamily="34" charset="0"/>
              </a:rPr>
              <a:t>0.00$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226894" y="2369493"/>
            <a:ext cx="213843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b="1" spc="82" kern="0" dirty="0">
                <a:solidFill>
                  <a:srgbClr val="94A3B8"/>
                </a:solidFill>
                <a:latin typeface="Plus Jakarta Sans" pitchFamily="34" charset="0"/>
              </a:rPr>
              <a:t>LLM COST PER AUDIT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71500" y="2926705"/>
            <a:ext cx="8001000" cy="1578769"/>
          </a:xfrm>
          <a:prstGeom prst="roundRect">
            <a:avLst>
              <a:gd name="adj" fmla="val 9050"/>
            </a:avLst>
          </a:prstGeom>
          <a:gradFill>
            <a:gsLst>
              <a:gs pos="0">
                <a:srgbClr val="6366F1">
                  <a:alpha val="12000"/>
                </a:srgbClr>
              </a:gs>
              <a:gs pos="100000">
                <a:srgbClr val="121A2C">
                  <a:alpha val="80000"/>
                </a:srgbClr>
              </a:gs>
            </a:gsLst>
            <a:lin ang="3300000" scaled="1"/>
          </a:gradFill>
          <a:ln w="6350">
            <a:solidFill>
              <a:srgbClr val="6366F1">
                <a:alpha val="35000"/>
              </a:srgbClr>
            </a:solidFill>
            <a:prstDash val="solid"/>
          </a:ln>
          <a:effectLst>
            <a:glow rad="220980">
              <a:srgbClr val="000000">
                <a:alpha val="50000"/>
              </a:srgbClr>
            </a:glow>
          </a:effectLst>
        </p:spPr>
      </p:sp>
      <p:sp>
        <p:nvSpPr>
          <p:cNvPr id="22" name="Shape 19"/>
          <p:cNvSpPr/>
          <p:nvPr/>
        </p:nvSpPr>
        <p:spPr>
          <a:xfrm>
            <a:off x="571500" y="2933849"/>
            <a:ext cx="7986713" cy="21431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835819" y="3191024"/>
            <a:ext cx="747236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lus Jakarta Sans" pitchFamily="34" charset="0"/>
              </a:rPr>
              <a:t>Thank You!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2250281" y="3562499"/>
            <a:ext cx="46434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lus Jakarta Sans" pitchFamily="34" charset="0"/>
              </a:rPr>
              <a:t>CEREBRO proves that deterministic, stateful behavioural intelligence beats black-box guessing every single time.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386696" y="4062561"/>
            <a:ext cx="1357536" cy="178594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6696" y="4062561"/>
            <a:ext cx="1357536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Plus Jakarta Sans" pitchFamily="34" charset="0"/>
              </a:rPr>
              <a:t>READY FOR PRODUCTION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858531" y="4062561"/>
            <a:ext cx="898661" cy="178594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8531" y="4062561"/>
            <a:ext cx="898661" cy="178594"/>
          </a:xfrm>
          <a:prstGeom prst="rect">
            <a:avLst/>
          </a:prstGeom>
          <a:noFill/>
          <a:ln/>
        </p:spPr>
        <p:txBody>
          <a:bodyPr wrap="none" lIns="95758" tIns="36830" rIns="95758" bIns="3683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0A5FA"/>
                </a:solidFill>
                <a:latin typeface="Plus Jakarta Sans" pitchFamily="34" charset="0"/>
              </a:rPr>
              <a:t>OPEN FOR Q&amp;A</a:t>
            </a:r>
            <a:endParaRPr lang="en-US" sz="600" dirty="0"/>
          </a:p>
        </p:txBody>
      </p:sp>
    </p:spTree>
  </p:cSld>
  <p:clrMapOvr>
    <a:masterClrMapping/>
  </p:clrMapOvr>
  <p:transition spd="med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2026-10-03T06:48:17Z</dcterms:created>
  <dcterms:modified xsi:type="dcterms:W3CDTF">2026-10-03T06:48:17Z</dcterms:modified>
</cp:coreProperties>
</file>